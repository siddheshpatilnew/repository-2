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0" r:id="rId7"/>
    <p:sldId id="258" r:id="rId8"/>
    <p:sldId id="261" r:id="rId9"/>
    <p:sldId id="290" r:id="rId10"/>
    <p:sldId id="291" r:id="rId11"/>
    <p:sldId id="292" r:id="rId12"/>
    <p:sldId id="264" r:id="rId13"/>
    <p:sldId id="266" r:id="rId14"/>
    <p:sldId id="284" r:id="rId15"/>
    <p:sldId id="285" r:id="rId16"/>
    <p:sldId id="289" r:id="rId17"/>
    <p:sldId id="28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F8A00-3939-493E-BC1A-689D33B02202}" v="12" dt="2026-02-08T05:56:13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7" y="884168"/>
            <a:ext cx="7371557" cy="1588443"/>
          </a:xfrm>
        </p:spPr>
        <p:txBody>
          <a:bodyPr/>
          <a:lstStyle/>
          <a:p>
            <a:r>
              <a:rPr lang="en-US" sz="8800" b="0"/>
              <a:t>Functions in C</a:t>
            </a:r>
            <a:endParaRPr lang="en-US" sz="88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1356" y="2845837"/>
            <a:ext cx="3657600" cy="24446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/>
              <a:t>Group Members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/>
              <a:t>Kartik Jadhav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/>
              <a:t>Sanskar Kabra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/>
              <a:t>Parva Joshi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/>
              <a:t>Siddhesh Patil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173" y="667139"/>
            <a:ext cx="7781544" cy="8590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are FUNCTIONS 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506" y="2239347"/>
            <a:ext cx="7063274" cy="395151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A function is a block of code which only runs when it is called.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You can pass data, known as parameters, into a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Functions are used to perform certain actions, and they are important for reusing code: Define the code once, and use it many times.</a:t>
            </a:r>
          </a:p>
          <a:p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06" y="303244"/>
            <a:ext cx="8670586" cy="859055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PREDEFINED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804" y="1797075"/>
            <a:ext cx="6963182" cy="379196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So it turns out you already know what a function is. You have been using it the whole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For example, </a:t>
            </a:r>
            <a:r>
              <a:rPr lang="en-US" sz="2800" b="1" u="sng" dirty="0">
                <a:solidFill>
                  <a:schemeClr val="bg1"/>
                </a:solidFill>
              </a:rPr>
              <a:t>main() </a:t>
            </a:r>
            <a:r>
              <a:rPr lang="en-US" sz="2800" dirty="0">
                <a:solidFill>
                  <a:schemeClr val="bg1"/>
                </a:solidFill>
              </a:rPr>
              <a:t>is a function, which is used to execute code, and </a:t>
            </a:r>
            <a:r>
              <a:rPr lang="en-US" sz="2800" b="1" u="sng" dirty="0" err="1">
                <a:solidFill>
                  <a:schemeClr val="bg1"/>
                </a:solidFill>
              </a:rPr>
              <a:t>printf</a:t>
            </a:r>
            <a:r>
              <a:rPr lang="en-US" sz="2800" b="1" u="sng" dirty="0">
                <a:solidFill>
                  <a:schemeClr val="bg1"/>
                </a:solidFill>
              </a:rPr>
              <a:t>() </a:t>
            </a:r>
            <a:r>
              <a:rPr lang="en-US" sz="2800" dirty="0">
                <a:solidFill>
                  <a:schemeClr val="bg1"/>
                </a:solidFill>
              </a:rPr>
              <a:t>is a function; used to output/print text to the screen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7A646-80E6-9953-BAD3-C9221B33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985" y="2336563"/>
            <a:ext cx="4227611" cy="248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840230"/>
          </a:xfrm>
        </p:spPr>
        <p:txBody>
          <a:bodyPr/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a FUNCTION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357516" cy="840231"/>
          </a:xfrm>
        </p:spPr>
        <p:txBody>
          <a:bodyPr/>
          <a:lstStyle/>
          <a:p>
            <a:r>
              <a:rPr lang="en-US" sz="2400" dirty="0"/>
              <a:t>To create your own function, specify the name of the function, followed by parentheses </a:t>
            </a:r>
            <a:r>
              <a:rPr lang="en-US" sz="2400" b="1" u="sng" dirty="0"/>
              <a:t>()</a:t>
            </a:r>
            <a:r>
              <a:rPr lang="en-US" sz="2400" dirty="0"/>
              <a:t> and curly brackets </a:t>
            </a:r>
            <a:r>
              <a:rPr lang="en-US" sz="2400" b="1" u="sng" dirty="0"/>
              <a:t>{}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6426B-450D-CEC7-9D76-F5F7873F1B8A}"/>
              </a:ext>
            </a:extLst>
          </p:cNvPr>
          <p:cNvSpPr txBox="1"/>
          <p:nvPr/>
        </p:nvSpPr>
        <p:spPr>
          <a:xfrm>
            <a:off x="444498" y="2939033"/>
            <a:ext cx="6422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CALL</a:t>
            </a:r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FUNCTION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C331E-4011-26C6-D60A-C09959693248}"/>
              </a:ext>
            </a:extLst>
          </p:cNvPr>
          <p:cNvSpPr txBox="1"/>
          <p:nvPr/>
        </p:nvSpPr>
        <p:spPr>
          <a:xfrm>
            <a:off x="444499" y="3890865"/>
            <a:ext cx="736522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Declared functions are not executed immediately. They are "saved for later use", and will be executed when they are called.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To call a function, write the function's name followed by two parentheses () and a semicolon ;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615B9-E02F-1FF7-69D6-F33B0894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595" y="1286439"/>
            <a:ext cx="4414206" cy="445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77" y="538571"/>
            <a:ext cx="11214100" cy="840230"/>
          </a:xfrm>
        </p:spPr>
        <p:txBody>
          <a:bodyPr/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Parameters and Arguments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75129" y="1587857"/>
            <a:ext cx="7141287" cy="2797531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dirty="0"/>
              <a:t>Information can be passed to functions as a parameter. Parameters act as variables inside the function.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dirty="0"/>
              <a:t>Parameters are specified after the function name, inside the parentheses. You can add as many parameters as you want, just separate them with a comma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C079F6-7E0E-D133-5D74-FE372230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31" y="1677305"/>
            <a:ext cx="3918091" cy="39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6B21-A11E-B1E7-F2BA-735C653E9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48222"/>
            <a:ext cx="11214100" cy="840230"/>
          </a:xfrm>
        </p:spPr>
        <p:txBody>
          <a:bodyPr/>
          <a:lstStyle/>
          <a:p>
            <a:r>
              <a:rPr lang="en-US" sz="5400">
                <a:solidFill>
                  <a:schemeClr val="accent4">
                    <a:lumMod val="60000"/>
                    <a:lumOff val="40000"/>
                  </a:schemeClr>
                </a:solidFill>
              </a:rPr>
              <a:t>Pass by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EC3C5-2675-63D8-B1F3-5235700A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27D89-3961-50D0-6E25-89CDD7F245FE}"/>
              </a:ext>
            </a:extLst>
          </p:cNvPr>
          <p:cNvSpPr txBox="1"/>
          <p:nvPr/>
        </p:nvSpPr>
        <p:spPr>
          <a:xfrm>
            <a:off x="345233" y="1380931"/>
            <a:ext cx="10655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In </a:t>
            </a:r>
            <a:r>
              <a:rPr lang="en-US" sz="2200" b="1">
                <a:solidFill>
                  <a:schemeClr val="bg1"/>
                </a:solidFill>
              </a:rPr>
              <a:t>pass by value</a:t>
            </a:r>
            <a:r>
              <a:rPr lang="en-US" sz="2200">
                <a:solidFill>
                  <a:schemeClr val="bg1"/>
                </a:solidFill>
              </a:rPr>
              <a:t>, a </a:t>
            </a:r>
            <a:r>
              <a:rPr lang="en-US" sz="2200" b="1">
                <a:solidFill>
                  <a:schemeClr val="bg1"/>
                </a:solidFill>
              </a:rPr>
              <a:t>copy of the actual argument</a:t>
            </a:r>
            <a:r>
              <a:rPr lang="en-US" sz="2200">
                <a:solidFill>
                  <a:schemeClr val="bg1"/>
                </a:solidFill>
              </a:rPr>
              <a:t> is passed to the function.</a:t>
            </a:r>
            <a:br>
              <a:rPr lang="en-US" sz="2200">
                <a:solidFill>
                  <a:schemeClr val="bg1"/>
                </a:solidFill>
              </a:rPr>
            </a:br>
            <a:r>
              <a:rPr lang="en-US" sz="2200">
                <a:solidFill>
                  <a:schemeClr val="bg1"/>
                </a:solidFill>
              </a:rPr>
              <a:t>Changes made inside the function </a:t>
            </a:r>
            <a:r>
              <a:rPr lang="en-US" sz="2200" b="1">
                <a:solidFill>
                  <a:schemeClr val="bg1"/>
                </a:solidFill>
              </a:rPr>
              <a:t>do NOT affect</a:t>
            </a:r>
            <a:r>
              <a:rPr lang="en-US" sz="2200">
                <a:solidFill>
                  <a:schemeClr val="bg1"/>
                </a:solidFill>
              </a:rPr>
              <a:t> the original variable.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7EBAD-A501-76AF-E3A2-07DC7F64C32D}"/>
              </a:ext>
            </a:extLst>
          </p:cNvPr>
          <p:cNvSpPr txBox="1"/>
          <p:nvPr/>
        </p:nvSpPr>
        <p:spPr>
          <a:xfrm>
            <a:off x="345233" y="2442851"/>
            <a:ext cx="109069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A new memory location is created for the parameter.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The function works only on the copied value.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8EC15-503F-5452-DCE2-9FD20DA61635}"/>
              </a:ext>
            </a:extLst>
          </p:cNvPr>
          <p:cNvSpPr txBox="1"/>
          <p:nvPr/>
        </p:nvSpPr>
        <p:spPr>
          <a:xfrm>
            <a:off x="345233" y="4273421"/>
            <a:ext cx="9793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When to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Use </a:t>
            </a:r>
            <a:r>
              <a:rPr lang="en-US" sz="2400" b="1">
                <a:solidFill>
                  <a:schemeClr val="bg1"/>
                </a:solidFill>
              </a:rPr>
              <a:t>Pass by Value</a:t>
            </a:r>
            <a:r>
              <a:rPr lang="en-US" sz="2400">
                <a:solidFill>
                  <a:schemeClr val="bg1"/>
                </a:solidFill>
              </a:rPr>
              <a:t> when you don’t want the original data changed</a:t>
            </a:r>
          </a:p>
        </p:txBody>
      </p:sp>
    </p:spTree>
    <p:extLst>
      <p:ext uri="{BB962C8B-B14F-4D97-AF65-F5344CB8AC3E}">
        <p14:creationId xmlns:p14="http://schemas.microsoft.com/office/powerpoint/2010/main" val="313845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9F69-9AD1-09AE-453F-400E732C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37651"/>
            <a:ext cx="11214100" cy="840230"/>
          </a:xfrm>
        </p:spPr>
        <p:txBody>
          <a:bodyPr/>
          <a:lstStyle/>
          <a:p>
            <a:r>
              <a:rPr lang="en-US" sz="5400">
                <a:solidFill>
                  <a:schemeClr val="accent4">
                    <a:lumMod val="60000"/>
                    <a:lumOff val="40000"/>
                  </a:schemeClr>
                </a:solidFill>
              </a:rPr>
              <a:t>Pass by 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EC0315-2D94-13EC-2940-71C00B04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7CDD2-0023-B1BD-DD78-D33C40C1BE95}"/>
              </a:ext>
            </a:extLst>
          </p:cNvPr>
          <p:cNvSpPr txBox="1"/>
          <p:nvPr/>
        </p:nvSpPr>
        <p:spPr>
          <a:xfrm>
            <a:off x="444500" y="1436914"/>
            <a:ext cx="10677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In </a:t>
            </a:r>
            <a:r>
              <a:rPr lang="en-US" sz="2400" b="1">
                <a:solidFill>
                  <a:schemeClr val="bg1"/>
                </a:solidFill>
              </a:rPr>
              <a:t>pass by reference</a:t>
            </a:r>
            <a:r>
              <a:rPr lang="en-US" sz="2400">
                <a:solidFill>
                  <a:schemeClr val="bg1"/>
                </a:solidFill>
              </a:rPr>
              <a:t>, the </a:t>
            </a:r>
            <a:r>
              <a:rPr lang="en-US" sz="2400" b="1">
                <a:solidFill>
                  <a:schemeClr val="bg1"/>
                </a:solidFill>
              </a:rPr>
              <a:t>address of the variable</a:t>
            </a:r>
            <a:r>
              <a:rPr lang="en-US" sz="2400">
                <a:solidFill>
                  <a:schemeClr val="bg1"/>
                </a:solidFill>
              </a:rPr>
              <a:t> is passed to the function using pointers.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2400">
                <a:solidFill>
                  <a:schemeClr val="bg1"/>
                </a:solidFill>
              </a:rPr>
              <a:t>Changes made inside the function </a:t>
            </a:r>
            <a:r>
              <a:rPr lang="en-US" sz="2400" b="1">
                <a:solidFill>
                  <a:schemeClr val="bg1"/>
                </a:solidFill>
              </a:rPr>
              <a:t>DO affect</a:t>
            </a:r>
            <a:r>
              <a:rPr lang="en-US" sz="2400">
                <a:solidFill>
                  <a:schemeClr val="bg1"/>
                </a:solidFill>
              </a:rPr>
              <a:t> the original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EF8C7-71EB-1188-A9A4-7C5C51EDFBFB}"/>
              </a:ext>
            </a:extLst>
          </p:cNvPr>
          <p:cNvSpPr txBox="1"/>
          <p:nvPr/>
        </p:nvSpPr>
        <p:spPr>
          <a:xfrm>
            <a:off x="444500" y="3153747"/>
            <a:ext cx="100210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How it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The function receives the variable’s address.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It directly modifies the original memory location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86F67-1311-7391-D3E2-9B286A91FBC7}"/>
              </a:ext>
            </a:extLst>
          </p:cNvPr>
          <p:cNvSpPr txBox="1"/>
          <p:nvPr/>
        </p:nvSpPr>
        <p:spPr>
          <a:xfrm>
            <a:off x="455774" y="4820921"/>
            <a:ext cx="10655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When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Use </a:t>
            </a:r>
            <a:r>
              <a:rPr lang="en-US" sz="2400" b="1">
                <a:solidFill>
                  <a:schemeClr val="bg1"/>
                </a:solidFill>
              </a:rPr>
              <a:t>Pass by Reference</a:t>
            </a:r>
            <a:r>
              <a:rPr lang="en-US" sz="2400">
                <a:solidFill>
                  <a:schemeClr val="bg1"/>
                </a:solidFill>
              </a:rPr>
              <a:t> when you need to modify original variables or return multiple values</a:t>
            </a:r>
          </a:p>
        </p:txBody>
      </p:sp>
    </p:spTree>
    <p:extLst>
      <p:ext uri="{BB962C8B-B14F-4D97-AF65-F5344CB8AC3E}">
        <p14:creationId xmlns:p14="http://schemas.microsoft.com/office/powerpoint/2010/main" val="265217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9ABE-EBD2-7A9C-6BBB-58463484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49618"/>
            <a:ext cx="11214100" cy="840230"/>
          </a:xfrm>
        </p:spPr>
        <p:txBody>
          <a:bodyPr/>
          <a:lstStyle/>
          <a:p>
            <a:r>
              <a:rPr lang="en-US" sz="5400">
                <a:solidFill>
                  <a:schemeClr val="accent4">
                    <a:lumMod val="60000"/>
                    <a:lumOff val="40000"/>
                  </a:schemeClr>
                </a:solidFill>
              </a:rPr>
              <a:t>Key Differences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70FEF-E25D-3E55-A0FB-B829FD53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2EFA3F-5CA2-4CB4-C931-373578887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375439"/>
              </p:ext>
            </p:extLst>
          </p:nvPr>
        </p:nvGraphicFramePr>
        <p:xfrm>
          <a:off x="765110" y="1866122"/>
          <a:ext cx="10674222" cy="4057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074">
                  <a:extLst>
                    <a:ext uri="{9D8B030D-6E8A-4147-A177-3AD203B41FA5}">
                      <a16:colId xmlns:a16="http://schemas.microsoft.com/office/drawing/2014/main" val="2922115801"/>
                    </a:ext>
                  </a:extLst>
                </a:gridCol>
                <a:gridCol w="3558074">
                  <a:extLst>
                    <a:ext uri="{9D8B030D-6E8A-4147-A177-3AD203B41FA5}">
                      <a16:colId xmlns:a16="http://schemas.microsoft.com/office/drawing/2014/main" val="2074251845"/>
                    </a:ext>
                  </a:extLst>
                </a:gridCol>
                <a:gridCol w="3558074">
                  <a:extLst>
                    <a:ext uri="{9D8B030D-6E8A-4147-A177-3AD203B41FA5}">
                      <a16:colId xmlns:a16="http://schemas.microsoft.com/office/drawing/2014/main" val="3580137347"/>
                    </a:ext>
                  </a:extLst>
                </a:gridCol>
              </a:tblGrid>
              <a:tr h="778173">
                <a:tc>
                  <a:txBody>
                    <a:bodyPr/>
                    <a:lstStyle/>
                    <a:p>
                      <a:r>
                        <a:rPr lang="en-US" sz="36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Pass by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Pass by 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38599"/>
                  </a:ext>
                </a:extLst>
              </a:tr>
              <a:tr h="778173">
                <a:tc>
                  <a:txBody>
                    <a:bodyPr/>
                    <a:lstStyle/>
                    <a:p>
                      <a:r>
                        <a:rPr lang="en-US" sz="2800"/>
                        <a:t>What is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Copy of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Address of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166583"/>
                  </a:ext>
                </a:extLst>
              </a:tr>
              <a:tr h="778173">
                <a:tc>
                  <a:txBody>
                    <a:bodyPr/>
                    <a:lstStyle/>
                    <a:p>
                      <a:r>
                        <a:rPr lang="en-US" sz="2800"/>
                        <a:t>Original variable 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673275"/>
                  </a:ext>
                </a:extLst>
              </a:tr>
              <a:tr h="778173">
                <a:tc>
                  <a:txBody>
                    <a:bodyPr/>
                    <a:lstStyle/>
                    <a:p>
                      <a:r>
                        <a:rPr lang="en-US" sz="3600"/>
                        <a:t>Memory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Extra memory for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Same memory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33414"/>
                  </a:ext>
                </a:extLst>
              </a:tr>
              <a:tr h="778173">
                <a:tc>
                  <a:txBody>
                    <a:bodyPr/>
                    <a:lstStyle/>
                    <a:p>
                      <a:r>
                        <a:rPr lang="en-US" sz="3200"/>
                        <a:t>Uses pointers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02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57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09659"/>
            <a:ext cx="11214100" cy="1144929"/>
          </a:xfrm>
        </p:spPr>
        <p:txBody>
          <a:bodyPr/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SCOPE</a:t>
            </a:r>
            <a:br>
              <a:rPr lang="en-US" b="0" dirty="0"/>
            </a:b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800" y="1073798"/>
            <a:ext cx="9035402" cy="14630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Now that you understand how functions work, it is important to learn how variables act inside and outside of functions.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In C, variables are only accessible inside the region they are created. This is called </a:t>
            </a:r>
            <a:r>
              <a:rPr lang="en-US" sz="2400" b="1"/>
              <a:t>scope</a:t>
            </a:r>
            <a:r>
              <a:rPr lang="en-US" sz="2400"/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A6D97-12FE-A6AF-A1BC-EADA935F5E86}"/>
              </a:ext>
            </a:extLst>
          </p:cNvPr>
          <p:cNvSpPr txBox="1"/>
          <p:nvPr/>
        </p:nvSpPr>
        <p:spPr>
          <a:xfrm>
            <a:off x="444500" y="2661353"/>
            <a:ext cx="73245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LOCAL</a:t>
            </a:r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SCOPE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EEE2E-B812-5FCB-18B4-8AF9E88F9171}"/>
              </a:ext>
            </a:extLst>
          </p:cNvPr>
          <p:cNvSpPr txBox="1"/>
          <p:nvPr/>
        </p:nvSpPr>
        <p:spPr>
          <a:xfrm>
            <a:off x="323202" y="3363499"/>
            <a:ext cx="6242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A variable created inside a function belongs to the </a:t>
            </a:r>
            <a:r>
              <a:rPr lang="en-US" sz="2400" i="1">
                <a:solidFill>
                  <a:schemeClr val="bg1"/>
                </a:solidFill>
              </a:rPr>
              <a:t>local scope</a:t>
            </a:r>
            <a:r>
              <a:rPr lang="en-US" sz="2400">
                <a:solidFill>
                  <a:schemeClr val="bg1"/>
                </a:solidFill>
              </a:rPr>
              <a:t> of that function, and can only be used inside that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89068-3F44-CF94-B456-38B975036F87}"/>
              </a:ext>
            </a:extLst>
          </p:cNvPr>
          <p:cNvSpPr txBox="1"/>
          <p:nvPr/>
        </p:nvSpPr>
        <p:spPr>
          <a:xfrm>
            <a:off x="444500" y="4496533"/>
            <a:ext cx="57383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GLOBAL</a:t>
            </a:r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5918C-0303-742D-D0D2-06CA6A1C35E8}"/>
              </a:ext>
            </a:extLst>
          </p:cNvPr>
          <p:cNvSpPr txBox="1"/>
          <p:nvPr/>
        </p:nvSpPr>
        <p:spPr>
          <a:xfrm>
            <a:off x="323202" y="5265974"/>
            <a:ext cx="90354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A variable created outside of a function, is called a </a:t>
            </a:r>
            <a:r>
              <a:rPr lang="en-US" sz="2400" b="1">
                <a:solidFill>
                  <a:schemeClr val="bg1"/>
                </a:solidFill>
              </a:rPr>
              <a:t>global variable</a:t>
            </a:r>
            <a:r>
              <a:rPr lang="en-US" sz="2400">
                <a:solidFill>
                  <a:schemeClr val="bg1"/>
                </a:solidFill>
              </a:rPr>
              <a:t> and belongs to the </a:t>
            </a:r>
            <a:r>
              <a:rPr lang="en-US" sz="2400" i="1">
                <a:solidFill>
                  <a:schemeClr val="bg1"/>
                </a:solidFill>
              </a:rPr>
              <a:t>global scope</a:t>
            </a:r>
            <a:r>
              <a:rPr lang="en-US" sz="240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Global variables are available from within any scope, global and local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28321"/>
            <a:ext cx="11214100" cy="701731"/>
          </a:xfrm>
        </p:spPr>
        <p:txBody>
          <a:bodyPr/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EXAMPLES OF SCOPE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6077D-8773-C7CD-49EB-B525740F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11" y="2137119"/>
            <a:ext cx="5183981" cy="4392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ADFD0-1EE7-02DB-47CD-7F7000E0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361" y="2137119"/>
            <a:ext cx="6321422" cy="4392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0203D4-7000-2190-22EB-E3CA0DAA45C7}"/>
              </a:ext>
            </a:extLst>
          </p:cNvPr>
          <p:cNvSpPr txBox="1"/>
          <p:nvPr/>
        </p:nvSpPr>
        <p:spPr>
          <a:xfrm>
            <a:off x="330411" y="1380931"/>
            <a:ext cx="518398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Local Scope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54BF7E-3F63-1ABC-22DF-08DFDD826035}"/>
              </a:ext>
            </a:extLst>
          </p:cNvPr>
          <p:cNvSpPr txBox="1"/>
          <p:nvPr/>
        </p:nvSpPr>
        <p:spPr>
          <a:xfrm>
            <a:off x="5675394" y="1429233"/>
            <a:ext cx="6321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Global Scope</a:t>
            </a: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1144929"/>
          </a:xfrm>
        </p:spPr>
        <p:txBody>
          <a:bodyPr/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WHY USE FUNCTIONS</a:t>
            </a:r>
            <a:br>
              <a:rPr lang="en-US" b="0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FA009-D45A-F7AC-D817-A0460612AB99}"/>
              </a:ext>
            </a:extLst>
          </p:cNvPr>
          <p:cNvSpPr txBox="1"/>
          <p:nvPr/>
        </p:nvSpPr>
        <p:spPr>
          <a:xfrm>
            <a:off x="289250" y="1506048"/>
            <a:ext cx="948923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800" b="1" dirty="0">
                <a:solidFill>
                  <a:schemeClr val="bg1"/>
                </a:solidFill>
              </a:rPr>
              <a:t>Avoids repetition (Reusability)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Instead of writing the same code multiple times, you write it </a:t>
            </a:r>
            <a:r>
              <a:rPr lang="en-US" sz="2400" b="1" dirty="0">
                <a:solidFill>
                  <a:schemeClr val="bg1"/>
                </a:solidFill>
              </a:rPr>
              <a:t>once</a:t>
            </a:r>
            <a:r>
              <a:rPr lang="en-US" sz="2400" dirty="0">
                <a:solidFill>
                  <a:schemeClr val="bg1"/>
                </a:solidFill>
              </a:rPr>
              <a:t> in  a function and call it whenever needed.</a:t>
            </a:r>
          </a:p>
          <a:p>
            <a:pPr marL="457200" indent="-457200">
              <a:buFont typeface="+mj-lt"/>
              <a:buAutoNum type="arabicParenR" startAt="2"/>
            </a:pPr>
            <a:r>
              <a:rPr lang="en-US" sz="2400" b="1" dirty="0">
                <a:solidFill>
                  <a:schemeClr val="bg1"/>
                </a:solidFill>
              </a:rPr>
              <a:t>Makes programs easier to understand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Breaking a big program into </a:t>
            </a:r>
            <a:r>
              <a:rPr lang="en-US" sz="2400" b="1" dirty="0">
                <a:solidFill>
                  <a:schemeClr val="bg1"/>
                </a:solidFill>
              </a:rPr>
              <a:t>small functions</a:t>
            </a:r>
            <a:r>
              <a:rPr lang="en-US" sz="2400" dirty="0">
                <a:solidFill>
                  <a:schemeClr val="bg1"/>
                </a:solidFill>
              </a:rPr>
              <a:t> makes it neat and readable.</a:t>
            </a:r>
          </a:p>
          <a:p>
            <a:pPr marL="457200" indent="-457200">
              <a:buFont typeface="+mj-lt"/>
              <a:buAutoNum type="arabicParenR" startAt="3"/>
            </a:pPr>
            <a:r>
              <a:rPr lang="en-US" sz="2400" b="1" dirty="0">
                <a:solidFill>
                  <a:schemeClr val="bg1"/>
                </a:solidFill>
              </a:rPr>
              <a:t>Saves time and effort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Once a function is written and tested, you can </a:t>
            </a:r>
            <a:r>
              <a:rPr lang="en-US" sz="2400" b="1" dirty="0">
                <a:solidFill>
                  <a:schemeClr val="bg1"/>
                </a:solidFill>
              </a:rPr>
              <a:t>reuse it</a:t>
            </a:r>
            <a:r>
              <a:rPr lang="en-US" sz="2400" dirty="0">
                <a:solidFill>
                  <a:schemeClr val="bg1"/>
                </a:solidFill>
              </a:rPr>
              <a:t> in same program or different</a:t>
            </a:r>
          </a:p>
          <a:p>
            <a:pPr marL="457200" indent="-457200">
              <a:buFont typeface="+mj-lt"/>
              <a:buAutoNum type="arabicParenR" startAt="4"/>
            </a:pPr>
            <a:r>
              <a:rPr lang="en-US" sz="2400" b="1" dirty="0">
                <a:solidFill>
                  <a:schemeClr val="bg1"/>
                </a:solidFill>
              </a:rPr>
              <a:t>Easy debugging and testing</a:t>
            </a:r>
          </a:p>
          <a:p>
            <a:r>
              <a:rPr lang="en-US" sz="2400" dirty="0">
                <a:solidFill>
                  <a:schemeClr val="bg1"/>
                </a:solidFill>
              </a:rPr>
              <a:t>If something goes wrong, you only check </a:t>
            </a:r>
            <a:r>
              <a:rPr lang="en-US" sz="2400" b="1" dirty="0">
                <a:solidFill>
                  <a:schemeClr val="bg1"/>
                </a:solidFill>
              </a:rPr>
              <a:t>that function</a:t>
            </a:r>
            <a:r>
              <a:rPr lang="en-US" sz="2400" dirty="0">
                <a:solidFill>
                  <a:schemeClr val="bg1"/>
                </a:solidFill>
              </a:rPr>
              <a:t>, not the whole program.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ED9244-3E9D-3F07-55FF-817ED0FE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89085" y="703385"/>
            <a:ext cx="92407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USER-DEFINED FUNCTIONS</a:t>
            </a:r>
            <a:endParaRPr lang="en-IN" sz="4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085" y="2672861"/>
            <a:ext cx="70953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No arguments, no return value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Arguments, no return value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No arguments, return value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Arguments and return value</a:t>
            </a:r>
          </a:p>
        </p:txBody>
      </p:sp>
    </p:spTree>
    <p:extLst>
      <p:ext uri="{BB962C8B-B14F-4D97-AF65-F5344CB8AC3E}">
        <p14:creationId xmlns:p14="http://schemas.microsoft.com/office/powerpoint/2010/main" val="353573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31886" y="1415562"/>
            <a:ext cx="12060114" cy="502919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Banking Systems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Functions handle account creation, deposits, withdrawals, and balance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Operating Systems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Used for file handling, memory management, and process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Embedded Systems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Functions control hardware like sensors, motors, and displays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Gaming Applications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Separate functions manage graphics, sound, player movement, and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Medical Equipment Software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Functions process sensor data and monitor patient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Telecommunication Systems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Used for call handling, signal processing, and data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E-commerce &amp; Billing Software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Functions calculate prices, taxes, discounts, and generate invoices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6111" y="378070"/>
            <a:ext cx="10553935" cy="85905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REAL WORLD USES OF FUNCTIONS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23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334108" y="1327639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CONCLUSION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4108" y="2822331"/>
            <a:ext cx="91000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Functions are essential in c programming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They improve efficiency and clarity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600" dirty="0">
                <a:solidFill>
                  <a:schemeClr val="bg1"/>
                </a:solidFill>
              </a:rPr>
              <a:t>Encourage structured and modular coding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82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Thank You 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100</TotalTime>
  <Words>778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Trade Gothic LT Pro</vt:lpstr>
      <vt:lpstr>Trebuchet MS</vt:lpstr>
      <vt:lpstr>Wingdings</vt:lpstr>
      <vt:lpstr>Office Theme</vt:lpstr>
      <vt:lpstr>Functions in C</vt:lpstr>
      <vt:lpstr>WHAT are FUNCTIONS ?</vt:lpstr>
      <vt:lpstr>PREDEFINED FUNCTIONS</vt:lpstr>
      <vt:lpstr>CREATE a FUNCTION</vt:lpstr>
      <vt:lpstr>Parameters and Arguments</vt:lpstr>
      <vt:lpstr>Pass by Value</vt:lpstr>
      <vt:lpstr>Pass by Reference</vt:lpstr>
      <vt:lpstr>Key Differences</vt:lpstr>
      <vt:lpstr>SCOPE </vt:lpstr>
      <vt:lpstr>EXAMPLES OF SCOPE</vt:lpstr>
      <vt:lpstr>WHY USE FUNCTIONS </vt:lpstr>
      <vt:lpstr>PowerPoint Presentation</vt:lpstr>
      <vt:lpstr>REAL WORLD USES OF FUNCTIONS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C</dc:title>
  <dc:creator>Prithviraj Jadhav</dc:creator>
  <cp:lastModifiedBy>Prithviraj Jadhav</cp:lastModifiedBy>
  <cp:revision>8</cp:revision>
  <dcterms:created xsi:type="dcterms:W3CDTF">2026-02-08T05:03:06Z</dcterms:created>
  <dcterms:modified xsi:type="dcterms:W3CDTF">2026-02-16T17:01:41Z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